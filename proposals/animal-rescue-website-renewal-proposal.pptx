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85a5391c-9788-cd89-98ea-8c2c2c594ec6}">
          <p14:sldIdLst>
            <p14:sldId id="256"/>
          </p14:sldIdLst>
        </p14:section>
        <p14:section name="제안 요약" id="{36ef81f1-137b-0561-095c-0d80843603e3}">
          <p14:sldIdLst>
            <p14:sldId id="257"/>
          </p14:sldIdLst>
        </p14:section>
        <p14:section name="요청 이해" id="{5ff06215-1ce0-7ebb-41a6-e4dfa1979519}">
          <p14:sldIdLst>
            <p14:sldId id="258"/>
          </p14:sldIdLst>
        </p14:section>
        <p14:section name="구축 기반과 사례" id="{b2f6464b-d541-65fd-7bd2-be99130efbed}">
          <p14:sldIdLst>
            <p14:sldId id="259"/>
            <p14:sldId id="260"/>
            <p14:sldId id="261"/>
          </p14:sldIdLst>
        </p14:section>
        <p14:section name="구축 내용" id="{1201fc28-9edc-7a13-7e17-8a36d35a4831}">
          <p14:sldIdLst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일정과 비용" id="{7b449eb5-4e3f-fd9e-259f-61f87b393a65}">
          <p14:sldIdLst>
            <p14:sldId id="269"/>
            <p14:sldId id="270"/>
            <p14:sldId id="271"/>
            <p14:sldId id="272"/>
            <p14:sldId id="273"/>
          </p14:sldIdLst>
        </p14:section>
        <p14:section name="마무리" id="{5b61f3e8-dabf-615b-7e67-01594d4da22e}">
          <p14:sldIdLst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프리모아 플랫폼 제출용이라 직접 연락처는 넣지 않음.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244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(주)하이퍼스페이스  ·  동물구조단체 웹사이트 리뉴얼 제안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ead1004.com" TargetMode="External"/><Relationship Id="rId3" Type="http://schemas.openxmlformats.org/officeDocument/2006/relationships/hyperlink" Target="https://www.read1004.com" TargetMode="External"/><Relationship Id="rId1" Type="http://schemas.openxmlformats.org/officeDocument/2006/relationships/image" Target="../media/image-5-1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milclearning.co.kr" TargetMode="External"/><Relationship Id="rId2" Type="http://schemas.openxmlformats.org/officeDocument/2006/relationships/image" Target="../media/image-6-1.png"/><Relationship Id="rId3" Type="http://schemas.openxmlformats.org/officeDocument/2006/relationships/image" Target="../media/image-6-2.png"/><Relationship Id="rId4" Type="http://schemas.openxmlformats.org/officeDocument/2006/relationships/image" Target="../media/image-6-3.png"/><Relationship Id="rId5" Type="http://schemas.openxmlformats.org/officeDocument/2006/relationships/image" Target="../media/image-6-4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동물구조단체 공식 웹사이트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리뉴얼 제안서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1188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쉬운 관리자(CMS) · 무중단 클라우드 운영 · 2개월 완성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5669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(주)하이퍼스페이스   대표 성시중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686800" y="5669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2026년 10월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한눈에 보는 제안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606040" cy="301752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7830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2개월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697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전체 구축 기간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2461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2026.11.09 착수 → 2027.01.08 완료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64992" y="1463040"/>
            <a:ext cx="2606040" cy="301752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93592" y="17830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1개월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593592" y="2697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실제 운영 상태로 시연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593592" y="32461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1개월 안에 전체 기능을 실제 서버에서 사용해 보실 수 있게 제공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81344" y="1463040"/>
            <a:ext cx="2606040" cy="301752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9944" y="17830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1,200만 원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409944" y="2697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필수 구축 범위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9944" y="32461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VAT 별도 · 제시 예산 최대 1,300만 원 이내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997696" y="1463040"/>
            <a:ext cx="2606040" cy="301752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226296" y="17830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0초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9226296" y="2697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업데이트 중 중단 시간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226296" y="32461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무중단 전환(스왑) 방식으로 기능 추가·수정 반영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892040"/>
            <a:ext cx="11064240" cy="1188720"/>
          </a:xfrm>
          <a:prstGeom prst="roundRect">
            <a:avLst>
              <a:gd name="adj" fmla="val 9231"/>
            </a:avLst>
          </a:prstGeom>
          <a:solidFill>
            <a:schemeClr val="accent2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51206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5303520"/>
            <a:ext cx="365760" cy="36576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1783080" y="507492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이미 Azure 클라우드에서 실제 운영 중인 검증된 시스템을 기반으로, 그 위에 귀 단체의 서비스를 구축합니다.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새로 처음부터 만드는 것보다 빠르고, 오래 운영하며 다듬어진 안정성을 그대로 이어받습니다.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지금의 불편, 이렇게 해결합니다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719072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924812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74520" y="16459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관리가 어렵습니다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874520" y="213055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메인·소개·동물 소개 화면을 바꾸려면 HTML 코드를 직접 고쳐야 하는 Cafe24 관리자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920240"/>
            <a:ext cx="384048" cy="38404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080760" y="169164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드래그 앤 드롭·양식 입력만으로 등록하는 쉬운 관리자. 운영진 누구나 바로 사용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548640" y="3017520"/>
            <a:ext cx="110642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1" name="Shape 7"/>
          <p:cNvSpPr/>
          <p:nvPr/>
        </p:nvSpPr>
        <p:spPr>
          <a:xfrm>
            <a:off x="822960" y="3319272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3525012"/>
            <a:ext cx="411480" cy="4114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874520" y="32461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방문자가 몰리면 멈춥니다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1874520" y="373075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트래픽 초과로 사이트 다운</a:t>
            </a:r>
            <a:endParaRPr lang="en-US" sz="13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3520440"/>
            <a:ext cx="384048" cy="38404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080760" y="329184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방문자가 늘면 서버가 자동으로 늘어나고, 줄면 자동으로 되돌아오는 클라우드 구조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548640" y="4617720"/>
            <a:ext cx="110642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8" name="Shape 12"/>
          <p:cNvSpPr/>
          <p:nvPr/>
        </p:nvSpPr>
        <p:spPr>
          <a:xfrm>
            <a:off x="822960" y="4919472"/>
            <a:ext cx="822960" cy="82296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" y="5125212"/>
            <a:ext cx="411480" cy="41148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874520" y="48463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비공개 글이 새어 나갑니다</a:t>
            </a:r>
            <a:endParaRPr lang="en-US" sz="1800" dirty="0"/>
          </a:p>
        </p:txBody>
      </p:sp>
      <p:sp>
        <p:nvSpPr>
          <p:cNvPr id="21" name="Text 14"/>
          <p:cNvSpPr txBox="1"/>
          <p:nvPr/>
        </p:nvSpPr>
        <p:spPr>
          <a:xfrm>
            <a:off x="1874520" y="533095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주소를 직접 입력하면 열리는 비공개 글</a:t>
            </a:r>
            <a:endParaRPr lang="en-US" sz="13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680" y="5120640"/>
            <a:ext cx="384048" cy="384048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6080760" y="489204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사이트를 거치지 않으면 관리자·회원이 아닌 사람은 글과 사진의 주소를 알아도 열 수 없게 차단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검증된 운영 기반 위에 귀 단체의 서비스를 올립니다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6309360" cy="1051560"/>
          </a:xfrm>
          <a:prstGeom prst="roundRect">
            <a:avLst>
              <a:gd name="adj" fmla="val 8696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귀 단체 전용 서비스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메인 랜딩 · 6개 메뉴 · 입양·임시보호 · 후원 · 소식·문의 · 영문 변환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6309360" cy="1051560"/>
          </a:xfrm>
          <a:prstGeom prst="roundRect">
            <a:avLst>
              <a:gd name="adj" fmla="val 8696"/>
            </a:avLst>
          </a:prstGeom>
          <a:solidFill>
            <a:schemeClr val="accent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8346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검증된 사이트 기반 코드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4612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로그인·권한 · 쉬운 관리자 · 파일 관리 · 변경 이력 · 오류 기록 · 보안 처리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6309360" cy="1051560"/>
          </a:xfrm>
          <a:prstGeom prst="roundRect">
            <a:avLst>
              <a:gd name="adj" fmla="val 8696"/>
            </a:avLst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40690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Microsoft Azure 클라우드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48056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무중단 전환 · 자동 서버 증설 · 무제한 저장 공간 · SSL · 백업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257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새로 만드는 부분 ▲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5257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이미 운영 중인 부분 ▼ (재사용)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223760" y="1463040"/>
            <a:ext cx="4389120" cy="443484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498080" y="16916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왜 빠르고 안정적인가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7498080" y="2240280"/>
            <a:ext cx="38862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클라우드 운영 체계(무중단 전환, 자동 증설, 저장소)를 새로 만들 필요가 없습니다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로그인·권한·보안처럼 사고가 나기 쉬운 부분은 오랜 운영으로 이미 다듬어졌습니다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개발 기간의 대부분을 귀 단체에 꼭 필요한 기능과 화면에 쓸 수 있습니다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구축 사례 Ⓐ  read1004.com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675120" cy="4169664"/>
          </a:xfrm>
          <a:prstGeom prst="rect">
            <a:avLst/>
          </a:prstGeom>
          <a:solidFill>
            <a:schemeClr val="bg2"/>
          </a:solidFill>
          <a:ln w="12700">
            <a:solidFill>
              <a:srgbClr val="EEF4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Image 0" descr="C:\Users\SeongSijung\AppData\Local\Temp\claude\C--Users-SeongSijung-source-repos-SuggestlyCoKrWebApp\7e1fa8ba-9ed8-4edb-9214-1335650ec54e\scratchpad\proposal\read1004_main.png">
            <a:hlinkClick r:id="rId2" tooltip="read1004.com 열기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6675120" cy="416966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62356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u="sng" dirty="0">
                <a:solidFill>
                  <a:schemeClr val="accent1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https://www.read1004.com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543800" y="132588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영어 교육 사이트이지만, 본질은 많은 콘텐츠를 관리하는 CMS입니다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543800" y="2148840"/>
            <a:ext cx="4069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전자도서 1,440권과 책마다 딸린 퀴즈·워크시트·음성을 관리자 화면을 통해 현황 파악 및 관리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Azure 클라우드에서 무중단 운영: 기능 추가도 서비스를 멈추지 않고 전환(스왑)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방문량에 따라 서버 자동 증설 및 되돌림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AI를 적극 활용해 개발한 사이트입니다. 원하시는 예시 사이트를 알려 주시면 최대한 같은 수준으로 구현해 드립니다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543800" y="5257800"/>
            <a:ext cx="406908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680960" y="533095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참고: 유료 결제는 PG(결제대행사) 승인 절차가 길어져 아직 정식 개시 전이며, 무료 서비스는 지금 이용하실 수 있습니다.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구축 사례 Ⓑ  Cafe24 사이트 이전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u="sng" dirty="0">
                <a:solidFill>
                  <a:schemeClr val="accent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https://www.milclearning.co.kr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Cafe24 호스팅에서 운영되던 오래된 브랜드 소개 사이트를 옮긴 사례입니다. 리뉴얼이 아니라, 플랫폼이 너무 오래되어 더 이상 유지할 수 없게 된 사이트를 내용 그대로 새로 구현했습니다.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2606040" cy="29260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97180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270" y="3166110"/>
            <a:ext cx="388620" cy="3886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3931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1일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5262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AI의 도움으로 하루 만에 전체 이전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64992" y="2697480"/>
            <a:ext cx="2606040" cy="29260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1" name="Shape 8"/>
          <p:cNvSpPr/>
          <p:nvPr/>
        </p:nvSpPr>
        <p:spPr>
          <a:xfrm>
            <a:off x="3639312" y="297180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3622" y="3166110"/>
            <a:ext cx="388620" cy="3886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39312" y="3931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http → https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3639312" y="45262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보안 연결이 안 되던 사이트를 https로 전환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181344" y="2697480"/>
            <a:ext cx="2606040" cy="29260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6" name="Shape 12"/>
          <p:cNvSpPr/>
          <p:nvPr/>
        </p:nvSpPr>
        <p:spPr>
          <a:xfrm>
            <a:off x="6455664" y="297180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9974" y="3166110"/>
            <a:ext cx="388620" cy="3886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455664" y="3931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유지비 0원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6455664" y="45262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호스팅 비용이 들지 않는 방식으로 구성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8997696" y="2697480"/>
            <a:ext cx="2606040" cy="29260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21" name="Shape 16"/>
          <p:cNvSpPr/>
          <p:nvPr/>
        </p:nvSpPr>
        <p:spPr>
          <a:xfrm>
            <a:off x="9272016" y="297180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6326" y="3166110"/>
            <a:ext cx="388620" cy="38862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272016" y="3931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Cafe24 탈출</a:t>
            </a:r>
            <a:endParaRPr lang="en-US" sz="2200" dirty="0"/>
          </a:p>
        </p:txBody>
      </p:sp>
      <p:sp>
        <p:nvSpPr>
          <p:cNvPr id="24" name="Text 18"/>
          <p:cNvSpPr txBox="1"/>
          <p:nvPr/>
        </p:nvSpPr>
        <p:spPr>
          <a:xfrm>
            <a:off x="9272016" y="45262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노후 플랫폼 데이터·화면을 빠짐없이 옮기고 검수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→ 귀 단체가 요청하신 Cafe24 데이터·파일 이전 경험이 있습니다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멈추지 않는 Azure 클라우드 운영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406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73352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1867662"/>
            <a:ext cx="388620" cy="3886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55448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무중단 업데이트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737360" y="1938528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새 버전을 대기 서버에서 먼저 확인한 뒤 순간 전환합니다. 기능을 추가·수정하는 중에도 사이트가 멈추지 않습니다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72200" y="1371600"/>
            <a:ext cx="54406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0" y="1673352"/>
            <a:ext cx="777240" cy="7772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5110" y="1867662"/>
            <a:ext cx="388620" cy="3886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60920" y="155448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자동 서버 증설·되돌림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7360920" y="1938528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구조 소식으로 방문자가 몰리면 서버가 자동으로 늘어나고, 잠잠해지면 원래대로 돌아와 비용을 아낍니다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2971800"/>
            <a:ext cx="54406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4" name="Shape 10"/>
          <p:cNvSpPr/>
          <p:nvPr/>
        </p:nvSpPr>
        <p:spPr>
          <a:xfrm>
            <a:off x="777240" y="3273552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3467862"/>
            <a:ext cx="388620" cy="3886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737360" y="315468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사실상 무제한 사진·영상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737360" y="3538728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클라우드 저장소(Storage)에 보관해 용량 걱정이 없고, 많은 요청도 저장소가 직접 처리합니다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172200" y="2971800"/>
            <a:ext cx="54406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9" name="Shape 14"/>
          <p:cNvSpPr/>
          <p:nvPr/>
        </p:nvSpPr>
        <p:spPr>
          <a:xfrm>
            <a:off x="6400800" y="3273552"/>
            <a:ext cx="777240" cy="7772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5110" y="3467862"/>
            <a:ext cx="388620" cy="3886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60920" y="315468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CDN은 필요할 때 추가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7360920" y="3538728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저장소만으로도 충분하지만, 원하시면 추가 비용으로 분산 전송망(CDN)을 붙일 수 있습니다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548640" y="4572000"/>
            <a:ext cx="54406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24" name="Shape 18"/>
          <p:cNvSpPr/>
          <p:nvPr/>
        </p:nvSpPr>
        <p:spPr>
          <a:xfrm>
            <a:off x="777240" y="4873752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" y="5068062"/>
            <a:ext cx="388620" cy="3886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737360" y="475488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SSL·백업·장애 안내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1737360" y="5138928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https 기본 적용, DB 자동 백업, 장애 시에도 안내 페이지가 표시됩니다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6172200" y="4572000"/>
            <a:ext cx="54406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29" name="Shape 22"/>
          <p:cNvSpPr/>
          <p:nvPr/>
        </p:nvSpPr>
        <p:spPr>
          <a:xfrm>
            <a:off x="6400800" y="4873752"/>
            <a:ext cx="777240" cy="7772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5110" y="5068062"/>
            <a:ext cx="388620" cy="38862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360920" y="475488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이미지 자동 최적화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7360920" y="5138928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업로드할 때 크기·용량을 자동 조정하고, 화면에 보일 때만 불러오는 지연 로딩(Lazy Loading) 적용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초등학생도 쓸 수 있는 쉬운 관리자(CMS)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840480" cy="4663440"/>
          </a:xfrm>
          <a:prstGeom prst="roundRect">
            <a:avLst>
              <a:gd name="adj" fmla="val 2857"/>
            </a:avLst>
          </a:prstGeom>
          <a:solidFill>
            <a:schemeClr val="accent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691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운영진 최대 10명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2860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코드 입력 없이, 양식 채우기와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사진 끌어다 놓기만으로 완성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52044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관리자 계정별 권한 구성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누가 언제 무엇을 등록·수정·삭제했는지 기록 보존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오픈 전 관리자 사용 교육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329184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/>
        </p:spPr>
      </p:sp>
      <p:sp>
        <p:nvSpPr>
          <p:cNvPr id="8" name="Shape 6"/>
          <p:cNvSpPr/>
          <p:nvPr/>
        </p:nvSpPr>
        <p:spPr>
          <a:xfrm>
            <a:off x="4937760" y="16002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09210" y="1771650"/>
            <a:ext cx="342900" cy="3429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937760" y="23774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드래그 앤 드롭 업로드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937760" y="27889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여러 장 일괄 등록, 용량 자동 조정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183880" y="1371600"/>
            <a:ext cx="329184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/>
        </p:spPr>
      </p:sp>
      <p:sp>
        <p:nvSpPr>
          <p:cNvPr id="13" name="Shape 10"/>
          <p:cNvSpPr/>
          <p:nvPr/>
        </p:nvSpPr>
        <p:spPr>
          <a:xfrm>
            <a:off x="8458200" y="16002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9650" y="1771650"/>
            <a:ext cx="342900" cy="3429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8458200" y="23774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양식 입력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8458200" y="27889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항목별 칸만 채우면 화면이 자동 구성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663440" y="3520440"/>
            <a:ext cx="329184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/>
        </p:spPr>
      </p:sp>
      <p:sp>
        <p:nvSpPr>
          <p:cNvPr id="18" name="Shape 14"/>
          <p:cNvSpPr/>
          <p:nvPr/>
        </p:nvSpPr>
        <p:spPr>
          <a:xfrm>
            <a:off x="4937760" y="37490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9210" y="3920490"/>
            <a:ext cx="342900" cy="3429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937760" y="45262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임시 저장·변경 이력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4937760" y="49377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작성 중 저장, 이전 내용 자동 기록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8183880" y="3520440"/>
            <a:ext cx="329184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/>
        </p:spPr>
      </p:sp>
      <p:sp>
        <p:nvSpPr>
          <p:cNvPr id="23" name="Shape 18"/>
          <p:cNvSpPr/>
          <p:nvPr/>
        </p:nvSpPr>
        <p:spPr>
          <a:xfrm>
            <a:off x="8458200" y="37490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9650" y="3920490"/>
            <a:ext cx="342900" cy="34290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8458200" y="45262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공개/숨김 원클릭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8458200" y="49377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버튼 하나로 공개·비공개 전환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4663440" y="5623560"/>
            <a:ext cx="6812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양식은 콘텐츠 종류별(구조 동물·구조 소식·공지·활동·신청 등)로 제공하며, 항목 추가·변경은 2개월 차 피드백 기간에 반영합니다. 관리자가 양식 자체를 새로 만드는 기능은 필요하시면 선택 기능으로 협의합니다.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입양 &amp; 임시보호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20440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4592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1840230"/>
            <a:ext cx="388620" cy="3886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5603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방문자: 찾기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10896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이름, 동물 구분(개·고양이·토끼·염소 등)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성별, 연령, 체중, 입양 상태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기본 검색과 필터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297680" y="1371600"/>
            <a:ext cx="3520440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Shape 6"/>
          <p:cNvSpPr/>
          <p:nvPr/>
        </p:nvSpPr>
        <p:spPr>
          <a:xfrm>
            <a:off x="4572000" y="164592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310" y="1840230"/>
            <a:ext cx="388620" cy="3886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72000" y="25603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방문자: 개체 상세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310896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사진·영상, 건강 상태, 구조 배경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성격, 주의사항, 입양 후기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개체별 전용 주소로 공유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046720" y="1371600"/>
            <a:ext cx="3520440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4" name="Shape 10"/>
          <p:cNvSpPr/>
          <p:nvPr/>
        </p:nvSpPr>
        <p:spPr>
          <a:xfrm>
            <a:off x="8321040" y="164592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350" y="1840230"/>
            <a:ext cx="388620" cy="3886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21040" y="25603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관리자: 상태 관리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8321040" y="310896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보호 상태: 보호중 / 사망(관리자만 표시)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입양 상태: 모집중 / 입양완료 배지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심사 중일 때 신청 버튼 숨김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고양이 친화성은 특이사항으로 기록합니다. 사회성·활동성·모색 필터는 RFP에 따라 1차 범위에서 제외합니다.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트래픽 안정성과 비공개 글 보안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40680" cy="420624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4592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1840230"/>
            <a:ext cx="388620" cy="3886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1783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방문자가 몰려도 버팁니다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69748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이미지 업로드 기준 설정과 자동 최적화(용량·크기 조정)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화면에 보일 때만 불러오는 지연 로딩(Lazy Loading)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사진·영상은 클라우드 저장소가 직접 전송해 웹 서버 부담 분산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방문량에 따라 서버 자동 증설, 필요 시 CDN 연동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장애 시 안내 페이지 자동 표시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172200" y="1371600"/>
            <a:ext cx="5440680" cy="4206240"/>
          </a:xfrm>
          <a:prstGeom prst="roundRect">
            <a:avLst>
              <a:gd name="adj" fmla="val 2609"/>
            </a:avLst>
          </a:prstGeom>
          <a:solidFill>
            <a:schemeClr val="accent2"/>
          </a:solidFill>
          <a:ln/>
        </p:spPr>
      </p:sp>
      <p:sp>
        <p:nvSpPr>
          <p:cNvPr id="9" name="Shape 6"/>
          <p:cNvSpPr/>
          <p:nvPr/>
        </p:nvSpPr>
        <p:spPr>
          <a:xfrm>
            <a:off x="6446520" y="1645920"/>
            <a:ext cx="777240" cy="77724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0830" y="1840230"/>
            <a:ext cx="388620" cy="3886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06640" y="1783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비공개 글은 서버에서 막습니다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269748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화면에서 숨기는 것이 아니라, 서버가 요청마다 권한을 확인해 차단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글 주소를 직접 입력해도 열리지 않음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사진·첨부파일도 사이트를 통해서만 열림: 관리자나 회원이 아니면 주소를 알아도 열 수 없음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사이트가 잠시만 쓸 수 있는 열쇠를 붙여 보여 주므로, 주소가 밖으로 퍼져도 곧 쓸모없어짐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검색 엔진에도 노출되지 않도록 처리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버튼 하나로 영문 변환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14600" cy="265176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1417320" y="173736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1630" y="1931670"/>
            <a:ext cx="388620" cy="3886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6974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「영문 변환」 버튼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1546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모바일 포함 모든 페이지에 항상 표시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3090672" y="2560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▶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514600" cy="265176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</p:spPr>
      </p:sp>
      <p:sp>
        <p:nvSpPr>
          <p:cNvPr id="10" name="Shape 7"/>
          <p:cNvSpPr/>
          <p:nvPr/>
        </p:nvSpPr>
        <p:spPr>
          <a:xfrm>
            <a:off x="4251960" y="173736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6270" y="193167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66160" y="26974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AI 자동 번역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566160" y="31546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문맥을 이해하는 AI 번역으로 자연스러운 영문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5925312" y="2560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▶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217920" y="1463040"/>
            <a:ext cx="2514600" cy="265176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</p:spPr>
      </p:sp>
      <p:sp>
        <p:nvSpPr>
          <p:cNvPr id="16" name="Shape 12"/>
          <p:cNvSpPr/>
          <p:nvPr/>
        </p:nvSpPr>
        <p:spPr>
          <a:xfrm>
            <a:off x="7086600" y="173736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0910" y="1931670"/>
            <a:ext cx="388620" cy="3886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400800" y="26974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용어집 적용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6400800" y="31546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동물 이름·단체명은 번역하지 않고 그대로 유지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8759952" y="2560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▶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9052560" y="1463040"/>
            <a:ext cx="2514600" cy="265176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</p:spPr>
      </p:sp>
      <p:sp>
        <p:nvSpPr>
          <p:cNvPr id="22" name="Shape 17"/>
          <p:cNvSpPr/>
          <p:nvPr/>
        </p:nvSpPr>
        <p:spPr>
          <a:xfrm>
            <a:off x="9921240" y="173736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5550" y="1931670"/>
            <a:ext cx="388620" cy="38862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235440" y="26974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한국어로 복귀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9235440" y="31546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버튼 한 번으로 원래 한국어 화면으로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548640" y="4434840"/>
            <a:ext cx="1106424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868680" y="4617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비용을 아끼는 방식</a:t>
            </a:r>
            <a:endParaRPr lang="en-US" sz="1600" dirty="0"/>
          </a:p>
        </p:txBody>
      </p:sp>
      <p:sp>
        <p:nvSpPr>
          <p:cNvPr id="28" name="Text 22"/>
          <p:cNvSpPr txBox="1"/>
          <p:nvPr/>
        </p:nvSpPr>
        <p:spPr>
          <a:xfrm>
            <a:off x="868680" y="50292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한 번 번역한 결과는 저장해 두고 다시 사용합니다. 같은 글은 처음 한 번만 번역 비용이 들고, 글을 고쳤을 때만 다시 번역합니다. 별도 영문 사이트를 만들 필요가 없으며, 중요한 페이지를 한 번 더 다듬는 「수동 영문 검수」(최고 품질 AI 또는 전문 번역가)는 선택 기능으로 추가할 수 있습니다.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Cafe24 데이터 이전과 오픈 지원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057400" cy="329184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7373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737360" y="173736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7380" y="189738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6517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현황 조사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20040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게시글·사진·파일 종류와 양 파악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816352" y="1554480"/>
            <a:ext cx="2057400" cy="329184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044952" y="17373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2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4005072" y="173736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5092" y="189738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044952" y="26517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필드 매핑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3044952" y="320040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기존 항목을 새 구조에 1:1 연결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084064" y="1554480"/>
            <a:ext cx="2057400" cy="329184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5312664" y="17373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3</a:t>
            </a:r>
            <a:endParaRPr lang="en-US" sz="2800" dirty="0"/>
          </a:p>
        </p:txBody>
      </p:sp>
      <p:sp>
        <p:nvSpPr>
          <p:cNvPr id="17" name="Shape 13"/>
          <p:cNvSpPr/>
          <p:nvPr/>
        </p:nvSpPr>
        <p:spPr>
          <a:xfrm>
            <a:off x="6272784" y="173736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2804" y="189738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312664" y="26517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표본 시험 이전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5312664" y="320040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일부를 먼저 옮겨 함께 확인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7351776" y="1554480"/>
            <a:ext cx="2057400" cy="329184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7580376" y="17373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4</a:t>
            </a:r>
            <a:endParaRPr lang="en-US" sz="2800" dirty="0"/>
          </a:p>
        </p:txBody>
      </p:sp>
      <p:sp>
        <p:nvSpPr>
          <p:cNvPr id="23" name="Shape 18"/>
          <p:cNvSpPr/>
          <p:nvPr/>
        </p:nvSpPr>
        <p:spPr>
          <a:xfrm>
            <a:off x="8540496" y="173736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0516" y="1897380"/>
            <a:ext cx="320040" cy="32004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580376" y="26517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전체 이전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7580376" y="320040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글·사진·첨부파일 일괄 이전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9619488" y="1554480"/>
            <a:ext cx="2057400" cy="3291840"/>
          </a:xfrm>
          <a:prstGeom prst="roundRect">
            <a:avLst>
              <a:gd name="adj" fmla="val 5333"/>
            </a:avLst>
          </a:prstGeom>
          <a:solidFill>
            <a:schemeClr val="accent1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9848088" y="17373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5</a:t>
            </a:r>
            <a:endParaRPr lang="en-US" sz="2800" dirty="0"/>
          </a:p>
        </p:txBody>
      </p:sp>
      <p:sp>
        <p:nvSpPr>
          <p:cNvPr id="29" name="Shape 23"/>
          <p:cNvSpPr/>
          <p:nvPr/>
        </p:nvSpPr>
        <p:spPr>
          <a:xfrm>
            <a:off x="10808208" y="173736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68228" y="1897380"/>
            <a:ext cx="320040" cy="32004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848088" y="26517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검수·교육·오픈</a:t>
            </a:r>
            <a:endParaRPr lang="en-US" sz="1600" dirty="0"/>
          </a:p>
        </p:txBody>
      </p:sp>
      <p:sp>
        <p:nvSpPr>
          <p:cNvPr id="32" name="Text 25"/>
          <p:cNvSpPr txBox="1"/>
          <p:nvPr/>
        </p:nvSpPr>
        <p:spPr>
          <a:xfrm>
            <a:off x="9848088" y="320040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누락 검수, 관리자 교육, 오픈 지원</a:t>
            </a:r>
            <a:endParaRPr lang="en-US" sz="1300" dirty="0"/>
          </a:p>
        </p:txBody>
      </p:sp>
      <p:sp>
        <p:nvSpPr>
          <p:cNvPr id="33" name="Text 26"/>
          <p:cNvSpPr txBox="1"/>
          <p:nvPr/>
        </p:nvSpPr>
        <p:spPr>
          <a:xfrm>
            <a:off x="548640" y="5166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기존 주소로 들어오는 방문자가 새 사이트의 같은 글로 이동하도록 연결해, 검색 노출과 공유된 링크를 지킵니다.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디자인과 산출물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86400" cy="4023360"/>
          </a:xfrm>
          <a:prstGeom prst="roundRect">
            <a:avLst>
              <a:gd name="adj" fmla="val 2727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4592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1840230"/>
            <a:ext cx="388620" cy="3886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1783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디자인 범위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69748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메인 랜딩: 핵심 메시지, 후원 버튼, 최신 구조 소식, 플로팅 버튼(입양·후원·문의)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상위 6개 메뉴: 소개 · 활동 · 입양&amp;임시보호 · 봉사 · 후원 · 소식·문의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PC·태블릿·모바일 반응형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마음에 드는 예시 사이트를 알려 주시면 최대한 같은 수준으로 구현합니다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17920" y="1371600"/>
            <a:ext cx="5394960" cy="4023360"/>
          </a:xfrm>
          <a:prstGeom prst="roundRect">
            <a:avLst>
              <a:gd name="adj" fmla="val 2727"/>
            </a:avLst>
          </a:prstGeom>
          <a:solidFill>
            <a:schemeClr val="bg2"/>
          </a:solidFill>
          <a:ln/>
        </p:spPr>
      </p:sp>
      <p:sp>
        <p:nvSpPr>
          <p:cNvPr id="9" name="Shape 6"/>
          <p:cNvSpPr/>
          <p:nvPr/>
        </p:nvSpPr>
        <p:spPr>
          <a:xfrm>
            <a:off x="6492240" y="164592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550" y="1840230"/>
            <a:ext cx="388620" cy="3886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52360" y="17830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제공 산출물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6537960" y="269748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정보 구조(IA)와 화면 설계 문서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페이지별 CSS 파일과 디자인 이미지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디자인 가이드(색상·글꼴·버튼 규칙)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데이터 이전 매핑표와 검수 결과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관리자 사용 설명서와 사용 교육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운영 중인 웹사이트(클라우드 배포 완료 상태)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2개월 일정: 1개월 만에 실제로 써 보실 수 있습니다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86400" cy="68580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1개월 차  ·  전체 구축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126480" y="1463040"/>
            <a:ext cx="5486400" cy="68580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355080" y="146304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2개월 차  ·  피드백 반영과 안정화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2026.11.09 착수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840480" y="2240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2026.12.08 전체 결과물 제공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869680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2027.01.08 완료·오픈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743200"/>
            <a:ext cx="548640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2971800"/>
            <a:ext cx="5029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현황 분석, 정보 구조(IA), 화면 설계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메인·6개 메뉴 디자인과 반응형 화면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관리자(CMS), 입양·임시보호, 영문 변환, 보안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Cafe24 데이터 표본 이전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accent1"/>
                </a:solidFill>
              </a:rPr>
              <a:t>Azure 기본 도메인에서 실제 운영 상태로 공개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26480" y="2743200"/>
            <a:ext cx="548640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0" y="2971800"/>
            <a:ext cx="5029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운영진이 직접 써 보며 주시는 의견 반영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오류 수정과 안정화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원하시는 세부 사항으로 변경 적용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전체 데이터 이전·검수, 관리자 교육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정식 도메인 연결과 오픈 지원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제작 비용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120640" cy="4663440"/>
          </a:xfrm>
          <a:prstGeom prst="roundRect">
            <a:avLst>
              <a:gd name="adj" fmla="val 2353"/>
            </a:avLst>
          </a:prstGeom>
          <a:solidFill>
            <a:schemeClr val="accent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6459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필수 구축 범위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1,200만 원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063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VAT 별도  ·  제시 예산 최대 1,300만 원 이내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65760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기획·디자인(메인 + 6개 메뉴)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쉬운 관리자(CMS), 입양·임시보호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영문 변환 버튼(AI 번역 + 용어집)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트래픽·보안 대응, 데이터 이전, 교육·오픈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852160" y="137160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선택 기능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852160" y="1874520"/>
            <a:ext cx="576072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126480" y="2057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외부 연동 자동화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915400" y="2029968"/>
            <a:ext cx="2514600" cy="42062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915400" y="2029968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무료 제공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852160" y="2743200"/>
            <a:ext cx="576072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26480" y="2926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고급 입양 탐색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915400" y="2898648"/>
            <a:ext cx="2514600" cy="420624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915400" y="2898648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협의 후 결정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52160" y="3611880"/>
            <a:ext cx="576072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126480" y="3794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수동 영문 검수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915400" y="3767328"/>
            <a:ext cx="2514600" cy="42062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915400" y="3767328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AI 실비 30만 원 이내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852160" y="4480560"/>
            <a:ext cx="576072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126480" y="4663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후원 결제 연동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915400" y="4636008"/>
            <a:ext cx="2514600" cy="42062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915400" y="4636008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100만 원 (VAT 별도)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852160" y="544068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각 기능의 자세한 내용은 다음 장에 있습니다. RFP의 2차 고도화 항목은 별도로 협의합니다.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선택 기능 상세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44068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55448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7145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600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Ⓐ 외부 연동 자동화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794760" y="1600200"/>
            <a:ext cx="2011680" cy="38404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16002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무료 제공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33172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구글 시트 대신 사이트 자체의 별도 페이지에서 입양·임시보호·봉사 신청과 문의를 목록으로 관리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접수 시 운영진에게 메일 알림 자동 발송(Azure 메일 기능)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72200" y="1325880"/>
            <a:ext cx="544068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1" name="Shape 8"/>
          <p:cNvSpPr/>
          <p:nvPr/>
        </p:nvSpPr>
        <p:spPr>
          <a:xfrm>
            <a:off x="6400800" y="155448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0820" y="171450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178040" y="1600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Ⓑ 고급 입양 탐색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9418320" y="1600200"/>
            <a:ext cx="2011680" cy="384048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9418320" y="16002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협의 후 결정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6446520" y="233172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사회성·활동성·모색 등 세부 필터와 조건 조합 검색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원하시는 탐색 방식을 확인한 뒤 범위와 비용을 협의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48640" y="3840480"/>
            <a:ext cx="544068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8" name="Shape 14"/>
          <p:cNvSpPr/>
          <p:nvPr/>
        </p:nvSpPr>
        <p:spPr>
          <a:xfrm>
            <a:off x="777240" y="40690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22910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554480" y="4114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Ⓒ 수동 영문 검수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3794760" y="4114800"/>
            <a:ext cx="201168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3794760" y="41148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AI 실비 30만 원 이내</a:t>
            </a:r>
            <a:endParaRPr 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822960" y="484632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AI 검수: 품질이 가장 높은 전문 모델(Claude Opus 5.5)로 중요 페이지를 다시 다듬음. AI 사용료(토큰 비용) 30만 원 이내 예상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전문 번역가 검수가 필요하신 경우 협의 후 진행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172200" y="3840480"/>
            <a:ext cx="544068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25" name="Shape 20"/>
          <p:cNvSpPr/>
          <p:nvPr/>
        </p:nvSpPr>
        <p:spPr>
          <a:xfrm>
            <a:off x="6400800" y="40690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0820" y="4229100"/>
            <a:ext cx="320040" cy="32004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78040" y="4114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Ⓓ 후원 결제 연동</a:t>
            </a:r>
            <a:endParaRPr lang="en-US" sz="1600" dirty="0"/>
          </a:p>
        </p:txBody>
      </p:sp>
      <p:sp>
        <p:nvSpPr>
          <p:cNvPr id="28" name="Shape 22"/>
          <p:cNvSpPr/>
          <p:nvPr/>
        </p:nvSpPr>
        <p:spPr>
          <a:xfrm>
            <a:off x="9418320" y="4114800"/>
            <a:ext cx="201168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9418320" y="41148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100만 원 (VAT 별도)</a:t>
            </a:r>
            <a:endParaRPr lang="en-US" sz="1100" dirty="0"/>
          </a:p>
        </p:txBody>
      </p:sp>
      <p:sp>
        <p:nvSpPr>
          <p:cNvPr id="30" name="Text 24"/>
          <p:cNvSpPr txBox="1"/>
          <p:nvPr/>
        </p:nvSpPr>
        <p:spPr>
          <a:xfrm>
            <a:off x="6446520" y="484632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원하시는 PG사(결제대행사)와 결제 연동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후원 안내 페이지와 후원 결제 페이지 등 관련 페이지 추가 개발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PG 가입·심사는 귀 단체 명의로 진행하며, 심사 기간과 결제 수수료는 PG사 기준을 따름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월 운영비 예상 (제작비와 별도)</a:t>
            </a:r>
            <a:endParaRPr lang="en-US" sz="3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5577840"/>
                <a:gridCol w="25603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9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내용 (Azure Korea Central)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9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월 예상 비용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9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웹 서버 (App Service)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Linux Premium v4 · P0v4(기본) 또는 P1v4(여유) · 대기 서버 포함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약 9.8만 / 19.6만 원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데이터베이스 (Azure SQL)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Standard S1 (20 DTU) · 자동 백업 포함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약 4.4만 원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캐시 (Azure Managed Redis)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Balanced B0 · 빠른 응답과 서버 간 정보 공유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약 1.9만 원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저장소 (Storage)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사진·영상 · 100GB 기준 (GB당 약 27원)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약 0.5만 원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SSL 인증서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클라우드 관리형 인증서 · 자동 갱신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0원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24"/>
                          </a:solidFill>
                        </a:rPr>
                        <a:t>기본 호스팅 합계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24"/>
                          </a:solidFill>
                        </a:rPr>
                        <a:t>최소 예상 비용 · 자동 증설 여유분 포함 · 전송량 별도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8772E"/>
                          </a:solidFill>
                        </a:rPr>
                        <a:t>월 약 20만~30만 원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전송량 · 원본 사진 기준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GB당 약 164원 · 3MB 사진 하루 1,000회 × 30일 ≈ 90GB → 약 1.5만 원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24"/>
                          </a:solidFill>
                        </a:rPr>
                        <a:t>1TB 기준 약 16만 원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4493D"/>
                          </a:solidFill>
                        </a:rPr>
                        <a:t>전송량 · 자동 최적화 후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사진을 수백 KB로 자동 축소 · 같은 예시 약 10GB → 약 2천 원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8772E"/>
                          </a:solidFill>
                        </a:rPr>
                        <a:t>1TB → 약 100GB, 약 1.6만 원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5321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기본 호스팅의 최소 예상 비용입니다. 서버 크기와 전송량 비용은 전국의 조회·검색 규모에 따라 달라질 수 있으며, 귀 단체의 실제 방문·조회 수를 알려 주시면 더 정확히 추정해 드리겠습니다. 2026년 10월 Azure 공시 단가(원화) 기준이며, 도메인 비용은 별도입니다.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사용량에 따라 드는 비용 예시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40680" cy="420624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4592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1840230"/>
            <a:ext cx="388620" cy="3886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1783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AI 번역  ·  고급 모델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6517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약 6만 원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383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A4 1장 분량(한글 약 1,800자) × 1,000건 번역 기준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886200"/>
            <a:ext cx="4892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모델: Anthropic Claude Opus 5.5 (고급 모델)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단가: 입력 100만 토큰당 $4, 출력 100만 토큰당 $20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번역 결과를 저장해 다시 쓰므로, 같은 글을 여러 번 봐도 추가 비용 없음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72200" y="1371600"/>
            <a:ext cx="5440680" cy="420624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/>
        </p:spPr>
      </p:sp>
      <p:sp>
        <p:nvSpPr>
          <p:cNvPr id="11" name="Shape 8"/>
          <p:cNvSpPr/>
          <p:nvPr/>
        </p:nvSpPr>
        <p:spPr>
          <a:xfrm>
            <a:off x="6446520" y="164592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0830" y="1840230"/>
            <a:ext cx="388620" cy="3886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406640" y="178308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CDN (선택 · Azure Front Door Standard)</a:t>
            </a:r>
            <a:endParaRPr lang="en-US" sz="1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2606040"/>
          <a:ext cx="4892040" cy="914400"/>
        </p:xfrm>
        <a:graphic>
          <a:graphicData uri="http://schemas.openxmlformats.org/drawingml/2006/table">
            <a:tbl>
              <a:tblPr/>
              <a:tblGrid>
                <a:gridCol w="2788920"/>
                <a:gridCol w="2103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월 전송량 예시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9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월 예상 비용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9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100GB · 300만 요청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약 8.5만 원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500GB · 1,500만 요청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</a:rPr>
                        <a:t>약 23만 원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 10"/>
          <p:cNvSpPr txBox="1"/>
          <p:nvPr/>
        </p:nvSpPr>
        <p:spPr>
          <a:xfrm>
            <a:off x="6492240" y="4114800"/>
            <a:ext cx="4892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기본료 월 약 4.8만 원, 전송량 GB당 약 341원(아시아 지역)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클라우드 저장소만으로도 대용량 사진·영상을 처리할 수 있습니다. 처음에는 없이 시작하고 필요할 때 추가하시길 권합니다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기술 구성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4068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8132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화면·서버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.NET 10 · Blazor(ASP.NET Core) · 반응형 웹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72200" y="1371600"/>
            <a:ext cx="544068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46520" y="148132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웹 서버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18288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Azure App Service (Linux) · 무중단 전환 · 자동 증설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544068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262432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데이터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9718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Azure SQL Database · 자동 백업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72200" y="2514600"/>
            <a:ext cx="544068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46520" y="262432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파일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9718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Azure Storage (사진·영상·첨부파일)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657600"/>
            <a:ext cx="544068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376732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속도·실시간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1148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Azure Managed Redis · SignalR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72200" y="3657600"/>
            <a:ext cx="544068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46520" y="376732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보안·운영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41148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Azure Key Vault(비밀 정보 보관) · SSL · 권한별 접근 제어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4800600"/>
            <a:ext cx="544068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" y="491032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배포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2578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GitHub Actions 자동 빌드·시험·배포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72200" y="4800600"/>
            <a:ext cx="544068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46520" y="491032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선택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446520" y="52578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Azure Front Door (CDN)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943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read1004.com과 같은 기술 구성입니다. 이미 운영으로 검증된 조합을 그대로 사용합니다.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구조된 아이들의 소식이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매일 쉽게, 멈춤 없이 전해지도록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1188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1개월 안에 실제 운영 상태로 보여 드리고, 1개월 동안 함께 다듬겠습니다.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56692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(주)하이퍼스페이스  ·  2008년 설립  ·  대표 성시중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yperspace Rescue">
  <a:themeElements>
    <a:clrScheme name="Hyperspace Rescue">
      <a:dk1>
        <a:srgbClr val="1F2A24"/>
      </a:dk1>
      <a:lt1>
        <a:srgbClr val="FFFFFF"/>
      </a:lt1>
      <a:dk2>
        <a:srgbClr val="24493D"/>
      </a:dk2>
      <a:lt2>
        <a:srgbClr val="EEF4F0"/>
      </a:lt2>
      <a:accent1>
        <a:srgbClr val="E8772E"/>
      </a:accent1>
      <a:accent2>
        <a:srgbClr val="24493D"/>
      </a:accent2>
      <a:accent3>
        <a:srgbClr val="6FA98C"/>
      </a:accent3>
      <a:accent4>
        <a:srgbClr val="F2B54A"/>
      </a:accent4>
      <a:accent5>
        <a:srgbClr val="5E6B65"/>
      </a:accent5>
      <a:accent6>
        <a:srgbClr val="C9503C"/>
      </a:accent6>
      <a:hlink>
        <a:srgbClr val="1F6FB2"/>
      </a:hlink>
      <a:folHlink>
        <a:srgbClr val="6B4FA0"/>
      </a:folHlink>
    </a:clrScheme>
    <a:fontScheme name="Hyperspace Rescu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(주)하이퍼스페이스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동물구조단체 공식 웹사이트 리뉴얼 제안서</dc:title>
  <dc:subject>PptxGenJS Presentation</dc:subject>
  <dc:creator>(주)하이퍼스페이스 성시중</dc:creator>
  <cp:lastModifiedBy>(주)하이퍼스페이스 성시중</cp:lastModifiedBy>
  <cp:revision>1</cp:revision>
  <dcterms:created xsi:type="dcterms:W3CDTF">2026-10-12T14:53:59Z</dcterms:created>
  <dcterms:modified xsi:type="dcterms:W3CDTF">2026-10-12T14:53:59Z</dcterms:modified>
</cp:coreProperties>
</file>